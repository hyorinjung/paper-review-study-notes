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35BE7A8-AEC4-4566-9275-AF59D96E22EF}">
  <a:tblStyle styleId="{635BE7A8-AEC4-4566-9275-AF59D96E22E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C56EBD1-0F92-4A6D-B7CE-4CF1BF2D739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857431a50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857431a50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8ed2823544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8ed2823544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fa53506e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fa53506e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fa53506e8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fa53506e8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8ed282354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8ed282354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817f1701f2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817f1701f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fa53506e8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9fa53506e8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9fa53506e8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9fa53506e8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7be71389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87be71389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fa53506e8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fa53506e8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fa53506e8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9fa53506e8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fa53506e8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9fa53506e8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fa53506e8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9fa53506e8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fa53506e8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9fa53506e8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fa53506e8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9fa53506e8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817f1701f2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817f1701f2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8d0e95da3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8d0e95da3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fa53506e8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9fa53506e8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9fa53506e8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9fa53506e8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857431a502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857431a502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8a07cae146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8a07cae14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9fa53506e8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9fa53506e8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8a07cae146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8a07cae14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9fa53506e8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9fa53506e8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9fbc94d98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9fbc94d98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8aaad1080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8aaad1080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Relationship Id="rId4" Type="http://schemas.openxmlformats.org/officeDocument/2006/relationships/image" Target="../media/image14.png"/><Relationship Id="rId5" Type="http://schemas.openxmlformats.org/officeDocument/2006/relationships/image" Target="../media/image3.png"/><Relationship Id="rId6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10100"/>
            <a:ext cx="8520600" cy="287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000"/>
              <a:buFont typeface="Arial"/>
              <a:buNone/>
            </a:pPr>
            <a:r>
              <a:rPr b="1" lang="ko" sz="3333">
                <a:latin typeface="Trebuchet MS"/>
                <a:ea typeface="Trebuchet MS"/>
                <a:cs typeface="Trebuchet MS"/>
                <a:sym typeface="Trebuchet MS"/>
              </a:rPr>
              <a:t>Empowering Whisper as a Joint Multi-Talker and Target-Talker</a:t>
            </a:r>
            <a:endParaRPr b="1" sz="3333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333">
                <a:latin typeface="Trebuchet MS"/>
                <a:ea typeface="Trebuchet MS"/>
                <a:cs typeface="Trebuchet MS"/>
                <a:sym typeface="Trebuchet MS"/>
              </a:rPr>
              <a:t>Speech Recognition System</a:t>
            </a:r>
            <a:endParaRPr b="1" sz="3333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33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t/>
            </a:r>
            <a:endParaRPr b="1" sz="3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904200"/>
            <a:ext cx="8520600" cy="4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ko" sz="4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Lingwei Meng, Jiawen Kang, Yuejiao Wang, Zengrui Jin, Xixin Wu, Xunying Liu, Helen Men</a:t>
            </a:r>
            <a:endParaRPr sz="4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4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4800"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sz="5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6815950" y="86275"/>
            <a:ext cx="22143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INTERSPEECH2024</a:t>
            </a:r>
            <a:endParaRPr sz="1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accent2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992450" y="4021450"/>
            <a:ext cx="1641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2025.11.02</a:t>
            </a:r>
            <a:endParaRPr b="1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HyorinJung</a:t>
            </a:r>
            <a:endParaRPr b="1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2687750" y="3366500"/>
            <a:ext cx="4379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2"/>
                </a:solidFill>
              </a:rPr>
              <a:t>The Chinese University of Hong Kong, Hong Kong SAR, China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ko">
                <a:latin typeface="Trebuchet MS"/>
                <a:ea typeface="Trebuchet MS"/>
                <a:cs typeface="Trebuchet MS"/>
                <a:sym typeface="Trebuchet MS"/>
              </a:rPr>
              <a:t>Index</a:t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311700" y="1187225"/>
            <a:ext cx="5740200" cy="23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b="1" lang="k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Background</a:t>
            </a:r>
            <a:endParaRPr b="1"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b="1" lang="k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</a:t>
            </a:r>
            <a:endParaRPr b="1"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b="1" lang="k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Analyze &amp; Delineate</a:t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rebuchet MS"/>
              <a:buChar char="○"/>
            </a:pPr>
            <a:r>
              <a:rPr b="1" lang="ko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Experiments</a:t>
            </a:r>
            <a:endParaRPr b="1"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Char char="■"/>
            </a:pPr>
            <a:r>
              <a:rPr lang="ko" sz="11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Setting</a:t>
            </a:r>
            <a:endParaRPr sz="11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Char char="■"/>
            </a:pPr>
            <a:r>
              <a:rPr lang="ko" sz="11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Result</a:t>
            </a:r>
            <a:endParaRPr b="1"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b="1" lang="k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Conclusion </a:t>
            </a:r>
            <a:endParaRPr b="1"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b="1" lang="k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Proposal</a:t>
            </a:r>
            <a:endParaRPr b="1"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688">
                <a:latin typeface="Trebuchet MS"/>
                <a:ea typeface="Trebuchet MS"/>
                <a:cs typeface="Trebuchet MS"/>
                <a:sym typeface="Trebuchet MS"/>
              </a:rPr>
              <a:t>Background</a:t>
            </a:r>
            <a:endParaRPr b="1" sz="3688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144825" y="1152475"/>
            <a:ext cx="8999100" cy="185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200"/>
              </a:spcAft>
              <a:buNone/>
            </a:pPr>
            <a:r>
              <a:rPr b="1" lang="ko" sz="1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Prior </a:t>
            </a:r>
            <a:r>
              <a:rPr b="1" lang="ko" sz="1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adaptation methods: Multi-talker speech recognition.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509200" y="2013475"/>
            <a:ext cx="3433800" cy="2564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latin typeface="Trebuchet MS"/>
                <a:ea typeface="Trebuchet MS"/>
                <a:cs typeface="Trebuchet MS"/>
                <a:sym typeface="Trebuchet MS"/>
              </a:rPr>
              <a:t>Cascade systems</a:t>
            </a:r>
            <a:endParaRPr b="1" sz="2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Font typeface="Trebuchet MS"/>
              <a:buChar char="-"/>
            </a:pPr>
            <a:r>
              <a:rPr lang="ko" sz="1800">
                <a:latin typeface="Trebuchet MS"/>
                <a:ea typeface="Trebuchet MS"/>
                <a:cs typeface="Trebuchet MS"/>
                <a:sym typeface="Trebuchet MS"/>
              </a:rPr>
              <a:t>1)Separate → 2)recognize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Font typeface="Trebuchet MS"/>
              <a:buChar char="-"/>
            </a:pPr>
            <a:r>
              <a:rPr lang="k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suffer from objective mismatch and limited joint optimization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4131200" y="3057625"/>
            <a:ext cx="1079100" cy="476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5398500" y="2013475"/>
            <a:ext cx="3433800" cy="2564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latin typeface="Trebuchet MS"/>
                <a:ea typeface="Trebuchet MS"/>
                <a:cs typeface="Trebuchet MS"/>
                <a:sym typeface="Trebuchet MS"/>
              </a:rPr>
              <a:t>End-to-end (E2E)</a:t>
            </a:r>
            <a:endParaRPr b="1" sz="2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Font typeface="Trebuchet MS"/>
              <a:buChar char="-"/>
            </a:pPr>
            <a:r>
              <a:rPr lang="ko" sz="1800">
                <a:latin typeface="Trebuchet MS"/>
                <a:ea typeface="Trebuchet MS"/>
                <a:cs typeface="Trebuchet MS"/>
                <a:sym typeface="Trebuchet MS"/>
              </a:rPr>
              <a:t>ASR methods (PIT, HEAT, SOT) show promise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Font typeface="Trebuchet MS"/>
              <a:buChar char="-"/>
            </a:pPr>
            <a:r>
              <a:rPr lang="k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but usually need training from scratch or full fine-tuning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688">
                <a:latin typeface="Trebuchet MS"/>
                <a:ea typeface="Trebuchet MS"/>
                <a:cs typeface="Trebuchet MS"/>
                <a:sym typeface="Trebuchet MS"/>
              </a:rPr>
              <a:t>Background</a:t>
            </a:r>
            <a:endParaRPr b="1" sz="3688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144825" y="1152475"/>
            <a:ext cx="89991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Prior adaptation methods: </a:t>
            </a:r>
            <a:r>
              <a:rPr b="1" lang="ko" sz="1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Target-Talker ASR.</a:t>
            </a:r>
            <a:endParaRPr b="1" sz="19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Goal : </a:t>
            </a:r>
            <a: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Efficiently recognize one target speaker’s speech in multi-talker conditions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Char char="●"/>
            </a:pPr>
            <a: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End-to-end approaches have shown remarkable progress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b="1" lang="ko" sz="1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Limitation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Char char="●"/>
            </a:pPr>
            <a: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However, they generally require: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4327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Char char="○"/>
            </a:pPr>
            <a:r>
              <a:rPr lang="k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External modules (e.g., x-vector, ECAPA-TDNN)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4327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Char char="○"/>
            </a:pPr>
            <a:r>
              <a:rPr lang="k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Internal embedding extractors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Char char="●"/>
            </a:pPr>
            <a: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Usually, only the target speaker’s transcript is produced, while non-target speech is ignored.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Char char="●"/>
            </a:pPr>
            <a: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Speaker-attributed ASR can handle multiple speakers, but requires embeddings for all speakers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Char char="●"/>
            </a:pPr>
            <a: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Only one prior work addressed joint multi- and target-talker ASR, but still depends on an external extractor.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</a:t>
            </a:r>
            <a:endParaRPr b="1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144825" y="1152475"/>
            <a:ext cx="8999100" cy="38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Main Contributions:</a:t>
            </a:r>
            <a:endParaRPr b="1"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746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rebuchet MS"/>
              <a:buChar char="●"/>
            </a:pPr>
            <a:r>
              <a:rPr lang="ko" sz="2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Novel joint ASR framework — transcribes </a:t>
            </a:r>
            <a:r>
              <a:rPr b="1" lang="ko" sz="2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multi-talker speech</a:t>
            </a:r>
            <a:r>
              <a:rPr lang="ko" sz="2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while highlighting the</a:t>
            </a:r>
            <a:r>
              <a:rPr b="1" lang="ko" sz="2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target speaker</a:t>
            </a:r>
            <a:r>
              <a:rPr lang="ko" sz="2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without any speaker embedding extractor.</a:t>
            </a:r>
            <a:endParaRPr sz="2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rebuchet MS"/>
              <a:buChar char="●"/>
            </a:pPr>
            <a:r>
              <a:rPr lang="ko" sz="2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Parameter-efficient &amp; loosely coupled — only a small number of trainable parameters.</a:t>
            </a:r>
            <a:endParaRPr sz="2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ko" sz="2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State-of-the-art performance on LibriMix / LibriSpeechMix (English) and strong zero-shot generalization on AishellMix (Mandarin)</a:t>
            </a:r>
            <a:endParaRPr sz="23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</a:t>
            </a:r>
            <a:endParaRPr b="1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144825" y="1152475"/>
            <a:ext cx="8999100" cy="35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</a:t>
            </a:r>
            <a:r>
              <a:rPr b="1" lang="ko" sz="2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Method</a:t>
            </a:r>
            <a:endParaRPr b="1"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5814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Char char="●"/>
            </a:pPr>
            <a:r>
              <a:rPr b="1" lang="ko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Whisper (Foundation Model)</a:t>
            </a:r>
            <a:r>
              <a:rPr lang="ko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: </a:t>
            </a:r>
            <a:r>
              <a:rPr lang="ko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Serves as the base encoder-decoder model, providing robust pre-trained speech representations</a:t>
            </a:r>
            <a:endParaRPr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5814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Char char="●"/>
            </a:pPr>
            <a:r>
              <a:rPr b="1" lang="ko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Sidecar Separator</a:t>
            </a:r>
            <a:r>
              <a:rPr lang="ko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: Separates mixed embeddings from multiple speakers within Whisper’s encoder layers</a:t>
            </a:r>
            <a:endParaRPr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5814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Char char="●"/>
            </a:pPr>
            <a:r>
              <a:rPr b="1" lang="ko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Target Talker Identifier (TTI)</a:t>
            </a:r>
            <a:r>
              <a:rPr lang="ko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: Identifies the target speaker’s embedding flow dynamically using a 3-second enrollment cue</a:t>
            </a:r>
            <a:endParaRPr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5814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Char char="●"/>
            </a:pPr>
            <a:r>
              <a:rPr b="1" lang="ko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Soft Prompt Embedding</a:t>
            </a:r>
            <a:r>
              <a:rPr lang="ko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: Adapts the Whisper decoder to multi-/target-talker ASR tasks through lightweight soft prompt tuning</a:t>
            </a:r>
            <a:endParaRPr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92" name="Google Shape;92;p18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{635BE7A8-AEC4-4566-9275-AF59D96E22EF}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ko">
                <a:latin typeface="Trebuchet MS"/>
                <a:ea typeface="Trebuchet MS"/>
                <a:cs typeface="Trebuchet MS"/>
                <a:sym typeface="Trebuchet MS"/>
              </a:rPr>
              <a:t>Background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 b="1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7639500" cy="36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25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Whisper as the Speech Foundation Model</a:t>
            </a:r>
            <a:endParaRPr b="1" sz="255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Char char="●"/>
            </a:pPr>
            <a:r>
              <a:rPr lang="ko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Whisper is an attention-based encoder–decoder speech recognition model.</a:t>
            </a:r>
            <a:endParaRPr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Char char="●"/>
            </a:pPr>
            <a:r>
              <a:rPr lang="ko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Trained on massive web-scale labeled speech data</a:t>
            </a:r>
            <a:endParaRPr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Char char="●"/>
            </a:pPr>
            <a:r>
              <a:rPr lang="ko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Widely used beyond ASR as a speech foundation model</a:t>
            </a:r>
            <a:endParaRPr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Char char="●"/>
            </a:pPr>
            <a:r>
              <a:rPr lang="ko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Inspired by its versatility, this study extends Whisper to handle joint multi-talker and target-talker ASR tasks efficiently</a:t>
            </a:r>
            <a:endParaRPr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ko">
                <a:latin typeface="Trebuchet MS"/>
                <a:ea typeface="Trebuchet MS"/>
                <a:cs typeface="Trebuchet MS"/>
                <a:sym typeface="Trebuchet MS"/>
              </a:rPr>
              <a:t>Background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 b="1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7639500" cy="36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25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Empowering Whisper as a Multi-Talker ASR System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Char char="●"/>
            </a:pPr>
            <a: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SS + Whisper &gt;&gt; </a:t>
            </a:r>
            <a: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converts a well-trained single-talker ASR model into a multi-talker ASR model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Char char="●"/>
            </a:pPr>
            <a: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SS is a temporal convolutional network inserted between the early encoder layers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Char char="●"/>
            </a:pPr>
            <a: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It consists of stacked 1-D dilated convolutional blocks inspired by Conv-TasNet.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Char char="●"/>
            </a:pPr>
            <a: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Since the shallow encoder layers of ASR capture more acoustic than linguistic information, the SS separates mixed embeddings into speaker-specific representations by generating talker-dependent masks.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ko">
                <a:latin typeface="Trebuchet MS"/>
                <a:ea typeface="Trebuchet MS"/>
                <a:cs typeface="Trebuchet MS"/>
                <a:sym typeface="Trebuchet MS"/>
              </a:rPr>
              <a:t>Background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 b="1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7639500" cy="36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25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Placement in Whisper:</a:t>
            </a:r>
            <a:endParaRPr b="1" sz="255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Sidecar Separator, along with two additional 1-D Conv layers, is placed after the 2nd encoder block.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It generates masks corresponding to each speaker,</a:t>
            </a:r>
            <a:b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which are element-wise multiplied with the mixed embeddings to obtain separated speaker embeddings.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remaining encoder blocks and decoder then process each branch to produce the final transcriptions for each speaker.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ko">
                <a:latin typeface="Trebuchet MS"/>
                <a:ea typeface="Trebuchet MS"/>
                <a:cs typeface="Trebuchet MS"/>
                <a:sym typeface="Trebuchet MS"/>
              </a:rPr>
              <a:t>Background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olid icon, Sound design concept, sign on white background, icon in glyph style for mobile concept and web design. Vector graphics.(Getty Images 제공)" id="116" name="Google Shape;1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675" y="1302572"/>
            <a:ext cx="947226" cy="947226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2"/>
          <p:cNvSpPr txBox="1"/>
          <p:nvPr/>
        </p:nvSpPr>
        <p:spPr>
          <a:xfrm>
            <a:off x="2291250" y="1302575"/>
            <a:ext cx="243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latin typeface="Trebuchet MS"/>
                <a:ea typeface="Trebuchet MS"/>
                <a:cs typeface="Trebuchet MS"/>
                <a:sym typeface="Trebuchet MS"/>
              </a:rPr>
              <a:t>Log-Mel Spectrogram</a:t>
            </a:r>
            <a:endParaRPr b="1"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8" name="Google Shape;118;p22"/>
          <p:cNvSpPr/>
          <p:nvPr/>
        </p:nvSpPr>
        <p:spPr>
          <a:xfrm>
            <a:off x="1716188" y="1511463"/>
            <a:ext cx="524700" cy="389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2"/>
          <p:cNvSpPr txBox="1"/>
          <p:nvPr/>
        </p:nvSpPr>
        <p:spPr>
          <a:xfrm>
            <a:off x="5241600" y="13333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latin typeface="Trebuchet MS"/>
                <a:ea typeface="Trebuchet MS"/>
                <a:cs typeface="Trebuchet MS"/>
                <a:sym typeface="Trebuchet MS"/>
              </a:rPr>
              <a:t>CNN Down-sampling</a:t>
            </a:r>
            <a:endParaRPr b="1"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20" name="Google Shape;120;p22"/>
          <p:cNvPicPr preferRelativeResize="0"/>
          <p:nvPr/>
        </p:nvPicPr>
        <p:blipFill rotWithShape="1">
          <a:blip r:embed="rId4">
            <a:alphaModFix/>
          </a:blip>
          <a:srcRect b="19380" l="0" r="0" t="0"/>
          <a:stretch/>
        </p:blipFill>
        <p:spPr>
          <a:xfrm>
            <a:off x="2455275" y="1764275"/>
            <a:ext cx="2106750" cy="46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2"/>
          <p:cNvSpPr/>
          <p:nvPr/>
        </p:nvSpPr>
        <p:spPr>
          <a:xfrm>
            <a:off x="4776388" y="1453638"/>
            <a:ext cx="524700" cy="389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2"/>
          <p:cNvSpPr txBox="1"/>
          <p:nvPr/>
        </p:nvSpPr>
        <p:spPr>
          <a:xfrm>
            <a:off x="1646800" y="2886988"/>
            <a:ext cx="126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latin typeface="Trebuchet MS"/>
                <a:ea typeface="Trebuchet MS"/>
                <a:cs typeface="Trebuchet MS"/>
                <a:sym typeface="Trebuchet MS"/>
              </a:rPr>
              <a:t>Encoder</a:t>
            </a:r>
            <a:endParaRPr b="1"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3" name="Google Shape;123;p22"/>
          <p:cNvSpPr txBox="1"/>
          <p:nvPr/>
        </p:nvSpPr>
        <p:spPr>
          <a:xfrm>
            <a:off x="4831288" y="2799875"/>
            <a:ext cx="134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</a:t>
            </a:r>
            <a:r>
              <a:rPr b="1" lang="ko" sz="1800">
                <a:latin typeface="Trebuchet MS"/>
                <a:ea typeface="Trebuchet MS"/>
                <a:cs typeface="Trebuchet MS"/>
                <a:sym typeface="Trebuchet MS"/>
              </a:rPr>
              <a:t>Decoder</a:t>
            </a:r>
            <a:endParaRPr b="1"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4" name="Google Shape;124;p22"/>
          <p:cNvSpPr/>
          <p:nvPr/>
        </p:nvSpPr>
        <p:spPr>
          <a:xfrm>
            <a:off x="546275" y="2922988"/>
            <a:ext cx="524700" cy="389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2"/>
          <p:cNvSpPr/>
          <p:nvPr/>
        </p:nvSpPr>
        <p:spPr>
          <a:xfrm>
            <a:off x="3491925" y="2835863"/>
            <a:ext cx="524700" cy="389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2"/>
          <p:cNvSpPr/>
          <p:nvPr/>
        </p:nvSpPr>
        <p:spPr>
          <a:xfrm>
            <a:off x="7400063" y="2835863"/>
            <a:ext cx="524700" cy="389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8087175" y="2799875"/>
            <a:ext cx="68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latin typeface="Trebuchet MS"/>
                <a:ea typeface="Trebuchet MS"/>
                <a:cs typeface="Trebuchet MS"/>
                <a:sym typeface="Trebuchet MS"/>
              </a:rPr>
              <a:t>Text</a:t>
            </a:r>
            <a:endParaRPr b="1"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6275" y="3498600"/>
            <a:ext cx="2434800" cy="464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96900" y="3498600"/>
            <a:ext cx="3375325" cy="38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2"/>
          <p:cNvSpPr txBox="1"/>
          <p:nvPr/>
        </p:nvSpPr>
        <p:spPr>
          <a:xfrm>
            <a:off x="4196900" y="3893600"/>
            <a:ext cx="3375300" cy="8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●"/>
            </a:pPr>
            <a: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 : special token sequence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   ex&lt;|PREV|&gt;, decoder prompt, &lt;|SOT|&gt;, &lt;|LANGUAGE|&gt;,                  &lt;|TRANSCRIBE|&gt;, &lt;|NO-TIMESTAMP|&gt;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3925"/>
            <a:ext cx="9044349" cy="504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ko">
                <a:latin typeface="Trebuchet MS"/>
                <a:ea typeface="Trebuchet MS"/>
                <a:cs typeface="Trebuchet MS"/>
                <a:sym typeface="Trebuchet MS"/>
              </a:rPr>
              <a:t>Background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 b="1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3" name="Google Shape;143;p24"/>
          <p:cNvSpPr txBox="1"/>
          <p:nvPr>
            <p:ph idx="1" type="body"/>
          </p:nvPr>
        </p:nvSpPr>
        <p:spPr>
          <a:xfrm>
            <a:off x="311700" y="1152475"/>
            <a:ext cx="7639500" cy="36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25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Target Talker Identifier (TTI)</a:t>
            </a:r>
            <a:endParaRPr b="1" sz="255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Introduces target-talker ASR capability into the system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During the forward process :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○"/>
            </a:pPr>
            <a:r>
              <a:rPr lang="k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Encoder outputs (from multiple speakers) are divided into: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</a:pPr>
            <a:r>
              <a:rPr lang="k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Prefix segment — corresponds to the </a:t>
            </a:r>
            <a:r>
              <a:rPr i="1" lang="k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3-second enrollment speech</a:t>
            </a:r>
            <a:endParaRPr i="1"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</a:pPr>
            <a:r>
              <a:rPr lang="k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Main segment — corresponds to the </a:t>
            </a:r>
            <a:r>
              <a:rPr i="1" lang="k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multi-talker speech</a:t>
            </a:r>
            <a:endParaRPr i="1"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prefix segment is sent to the TTI module,</a:t>
            </a:r>
            <a:b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which determines which branch belongs to the target talker.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Only the main segment of the target branch is passed to the Whisper decoder for transcription.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ko">
                <a:latin typeface="Trebuchet MS"/>
                <a:ea typeface="Trebuchet MS"/>
                <a:cs typeface="Trebuchet MS"/>
                <a:sym typeface="Trebuchet MS"/>
              </a:rPr>
              <a:t>Background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 b="1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311700" y="1152475"/>
            <a:ext cx="7639500" cy="36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25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How TTI Works</a:t>
            </a:r>
            <a:endParaRPr b="1" sz="255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150" name="Google Shape;150;p25"/>
          <p:cNvGraphicFramePr/>
          <p:nvPr/>
        </p:nvGraphicFramePr>
        <p:xfrm>
          <a:off x="377900" y="1773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{AC56EBD1-0F92-4A6D-B7CE-4CF1BF2D7397}</a:tableStyleId>
              </a:tblPr>
              <a:tblGrid>
                <a:gridCol w="2730675"/>
                <a:gridCol w="2730675"/>
                <a:gridCol w="2730675"/>
              </a:tblGrid>
              <a:tr h="596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5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Step</a:t>
                      </a:r>
                      <a:endParaRPr b="1" sz="15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5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           Operation</a:t>
                      </a:r>
                      <a:endParaRPr b="1" sz="15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5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        </a:t>
                      </a:r>
                      <a:r>
                        <a:rPr b="1" lang="ko" sz="15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Output shape</a:t>
                      </a:r>
                      <a:endParaRPr b="1" sz="15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</a:tr>
              <a:tr h="573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5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                    </a:t>
                      </a:r>
                      <a:r>
                        <a:rPr lang="ko" sz="15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</a:t>
                      </a:r>
                      <a:endParaRPr sz="15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5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Prefix segment input</a:t>
                      </a:r>
                      <a:endParaRPr sz="15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5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(B × S, 150, C)</a:t>
                      </a:r>
                      <a:endParaRPr sz="15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</a:tr>
              <a:tr h="573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5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                    </a:t>
                      </a:r>
                      <a:r>
                        <a:rPr lang="ko" sz="15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2(reshape)</a:t>
                      </a:r>
                      <a:endParaRPr sz="15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5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Linear layer + ReLU</a:t>
                      </a:r>
                      <a:endParaRPr sz="15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5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(B × S, 150, 1)</a:t>
                      </a:r>
                      <a:endParaRPr sz="15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</a:tr>
              <a:tr h="840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5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                    </a:t>
                      </a:r>
                      <a:r>
                        <a:rPr lang="ko" sz="15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3(softmax)</a:t>
                      </a:r>
                      <a:endParaRPr sz="15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5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Squeeze(크기1차원 제거) + reshape → Linear + Softmax</a:t>
                      </a:r>
                      <a:endParaRPr sz="15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5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Probability (B, S) of each branch being the target speaker</a:t>
                      </a:r>
                      <a:endParaRPr sz="15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</a:tr>
              <a:tr h="573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5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Select target branch (highest probability)</a:t>
                      </a:r>
                      <a:endParaRPr sz="15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5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Minimal computational overhead</a:t>
                      </a:r>
                      <a:endParaRPr sz="15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51" name="Google Shape;15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5800" y="278300"/>
            <a:ext cx="4514850" cy="112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ko">
                <a:latin typeface="Trebuchet MS"/>
                <a:ea typeface="Trebuchet MS"/>
                <a:cs typeface="Trebuchet MS"/>
                <a:sym typeface="Trebuchet MS"/>
              </a:rPr>
              <a:t>Background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 b="1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7" name="Google Shape;157;p26"/>
          <p:cNvSpPr txBox="1"/>
          <p:nvPr>
            <p:ph idx="1" type="body"/>
          </p:nvPr>
        </p:nvSpPr>
        <p:spPr>
          <a:xfrm>
            <a:off x="311700" y="1152475"/>
            <a:ext cx="7639500" cy="36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25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Soft Prompt Tuning</a:t>
            </a:r>
            <a:endParaRPr b="1" sz="255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Whisper model text prompt tokens &gt;&gt; prefixes in the decoder input sequence to specify tasks and conditions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Combine this inherent property of Whisper with</a:t>
            </a:r>
            <a:b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Soft Prompt Tuning  &gt;&gt;  To adapt the model efficiently</a:t>
            </a:r>
            <a:b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for multi-talker and target-talker ASR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3925"/>
            <a:ext cx="9044349" cy="504957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7"/>
          <p:cNvSpPr/>
          <p:nvPr/>
        </p:nvSpPr>
        <p:spPr>
          <a:xfrm>
            <a:off x="2518000" y="4327500"/>
            <a:ext cx="814800" cy="470700"/>
          </a:xfrm>
          <a:prstGeom prst="frame">
            <a:avLst>
              <a:gd fmla="val 12500" name="adj1"/>
            </a:avLst>
          </a:prstGeom>
          <a:solidFill>
            <a:schemeClr val="accent4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ko">
                <a:latin typeface="Trebuchet MS"/>
                <a:ea typeface="Trebuchet MS"/>
                <a:cs typeface="Trebuchet MS"/>
                <a:sym typeface="Trebuchet MS"/>
              </a:rPr>
              <a:t>Background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 b="1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1" name="Google Shape;171;p28"/>
          <p:cNvSpPr txBox="1"/>
          <p:nvPr>
            <p:ph idx="1" type="body"/>
          </p:nvPr>
        </p:nvSpPr>
        <p:spPr>
          <a:xfrm>
            <a:off x="311700" y="1152475"/>
            <a:ext cx="7639500" cy="36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25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How It Works</a:t>
            </a:r>
            <a:endParaRPr b="1" sz="255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5814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ko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 learnable embedding (soft prompt) is inserted between</a:t>
            </a:r>
            <a:br>
              <a:rPr lang="ko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ko" sz="2400">
                <a:solidFill>
                  <a:srgbClr val="188038"/>
                </a:solidFill>
                <a:latin typeface="Trebuchet MS"/>
                <a:ea typeface="Trebuchet MS"/>
                <a:cs typeface="Trebuchet MS"/>
                <a:sym typeface="Trebuchet MS"/>
              </a:rPr>
              <a:t>&lt;|PREV|&gt;</a:t>
            </a:r>
            <a:r>
              <a:rPr lang="ko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and </a:t>
            </a:r>
            <a:r>
              <a:rPr lang="ko" sz="2400">
                <a:solidFill>
                  <a:srgbClr val="188038"/>
                </a:solidFill>
                <a:latin typeface="Trebuchet MS"/>
                <a:ea typeface="Trebuchet MS"/>
                <a:cs typeface="Trebuchet MS"/>
                <a:sym typeface="Trebuchet MS"/>
              </a:rPr>
              <a:t>&lt;|SOT|&gt;</a:t>
            </a:r>
            <a:r>
              <a:rPr lang="ko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tokens — where hard prompts are usually placed</a:t>
            </a:r>
            <a:endParaRPr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5814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ko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position of the soft prompt is masked when calculating loss, since the model doesn’t need to generate it</a:t>
            </a:r>
            <a:endParaRPr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5814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ko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soft prompt embedding is updated as the model learns</a:t>
            </a:r>
            <a:br>
              <a:rPr lang="ko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to transcribe multi-talker speech</a:t>
            </a:r>
            <a:endParaRPr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ko" sz="2750">
                <a:latin typeface="Trebuchet MS"/>
                <a:ea typeface="Trebuchet MS"/>
                <a:cs typeface="Trebuchet MS"/>
                <a:sym typeface="Trebuchet MS"/>
              </a:rPr>
              <a:t>Experiments : </a:t>
            </a:r>
            <a:r>
              <a:rPr b="1" lang="ko" sz="2750">
                <a:latin typeface="Trebuchet MS"/>
                <a:ea typeface="Trebuchet MS"/>
                <a:cs typeface="Trebuchet MS"/>
                <a:sym typeface="Trebuchet MS"/>
              </a:rPr>
              <a:t>Setting</a:t>
            </a:r>
            <a:endParaRPr b="1" sz="275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t/>
            </a:r>
            <a:endParaRPr b="1" sz="25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7" name="Google Shape;177;p29"/>
          <p:cNvSpPr txBox="1"/>
          <p:nvPr/>
        </p:nvSpPr>
        <p:spPr>
          <a:xfrm>
            <a:off x="448500" y="1331400"/>
            <a:ext cx="8203500" cy="38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Datasets</a:t>
            </a:r>
            <a:endParaRPr b="1"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rebuchet MS"/>
              <a:buChar char="●"/>
            </a:pPr>
            <a:r>
              <a:rPr b="1" lang="ko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English datasets:</a:t>
            </a:r>
            <a:endParaRPr b="1" sz="1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lphaLcPeriod"/>
            </a:pPr>
            <a:r>
              <a:rPr b="1" lang="ko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LibriMix</a:t>
            </a:r>
            <a:r>
              <a:rPr lang="ko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: 2- and 3-speaker fully overlapped mixtures (Libri2Mix, Libri3Mix)</a:t>
            </a:r>
            <a:endParaRPr sz="1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lphaLcPeriod"/>
            </a:pPr>
            <a:r>
              <a:rPr b="1" lang="ko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LibriSpeechMix </a:t>
            </a:r>
            <a:r>
              <a:rPr lang="ko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: partially overlapped mixtures (random delay)</a:t>
            </a:r>
            <a:br>
              <a:rPr lang="ko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1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rebuchet MS"/>
              <a:buChar char="●"/>
            </a:pPr>
            <a:r>
              <a:rPr b="1" lang="ko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Mandarin dataset:</a:t>
            </a:r>
            <a:endParaRPr b="1" sz="1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lphaLcPeriod"/>
            </a:pPr>
            <a:r>
              <a:rPr b="1" lang="ko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Aishell1Mix </a:t>
            </a:r>
            <a:r>
              <a:rPr lang="ko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: generated from Aishell-1 corpus</a:t>
            </a:r>
            <a:endParaRPr sz="1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ko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Each enrollment speech = </a:t>
            </a:r>
            <a:r>
              <a:rPr b="1" lang="ko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3-second clip</a:t>
            </a:r>
            <a:r>
              <a:rPr lang="ko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randomly sampled from LibriSpeech.</a:t>
            </a:r>
            <a:br>
              <a:rPr lang="ko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1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ko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Audio longer than </a:t>
            </a:r>
            <a:r>
              <a:rPr b="1" lang="ko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30 s</a:t>
            </a:r>
            <a:r>
              <a:rPr lang="ko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is time-stretched to fit Whisper’s input limit.</a:t>
            </a:r>
            <a:b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ko" sz="2750">
                <a:latin typeface="Trebuchet MS"/>
                <a:ea typeface="Trebuchet MS"/>
                <a:cs typeface="Trebuchet MS"/>
                <a:sym typeface="Trebuchet MS"/>
              </a:rPr>
              <a:t>Experiments : Setting</a:t>
            </a:r>
            <a:endParaRPr b="1" sz="275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t/>
            </a:r>
            <a:endParaRPr b="1" sz="25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3" name="Google Shape;183;p30"/>
          <p:cNvSpPr txBox="1"/>
          <p:nvPr/>
        </p:nvSpPr>
        <p:spPr>
          <a:xfrm>
            <a:off x="414550" y="1017725"/>
            <a:ext cx="7222500" cy="46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Implementation Details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lang="k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At each training step: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○"/>
            </a:pPr>
            <a:r>
              <a:rPr lang="k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80% probability: multi-talker ASR training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k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20% probability: joint multi-talker + target-talker ASR training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lang="k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Two losses are optimized: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○"/>
            </a:pPr>
            <a:r>
              <a:rPr lang="k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ASR loss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○"/>
            </a:pPr>
            <a:r>
              <a:rPr lang="k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TTI cross-entropy loss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lang="k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Both require speaker-order permutation assignment (to resolve label ambiguity)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ko" sz="2750">
                <a:latin typeface="Trebuchet MS"/>
                <a:ea typeface="Trebuchet MS"/>
                <a:cs typeface="Trebuchet MS"/>
                <a:sym typeface="Trebuchet MS"/>
              </a:rPr>
              <a:t>Experiments : Setting</a:t>
            </a:r>
            <a:endParaRPr b="1" sz="275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t/>
            </a:r>
            <a:endParaRPr b="1" sz="25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9" name="Google Shape;189;p31"/>
          <p:cNvSpPr txBox="1"/>
          <p:nvPr/>
        </p:nvSpPr>
        <p:spPr>
          <a:xfrm>
            <a:off x="414550" y="1017725"/>
            <a:ext cx="8189700" cy="3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Model Settings and Evaluation Metrics</a:t>
            </a:r>
            <a:endParaRPr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k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Base models: Whisper-small, Whisper-medium,Whisper-large-v3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k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Frozen weights; only train: Sidecar Separator, TTI module, Soft Prompt embeddings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k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Optimizer: AdamW (lr: 2e-4 → 1e-4)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k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Training: up to 200k steps on 8×NVIDIA V100 (batch=16)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k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λ = 0.01 for TTI loss weight.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lang="k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Evaluation metrics: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○"/>
            </a:pPr>
            <a:r>
              <a:rPr lang="k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Multi-talker ASR → WER/CER (permutation-based)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○"/>
            </a:pPr>
            <a:r>
              <a:rPr lang="k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Target-talker ASR → standard WER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90" name="Google Shape;19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1613" y="4162413"/>
            <a:ext cx="3762375" cy="98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ko" sz="2750">
                <a:latin typeface="Trebuchet MS"/>
                <a:ea typeface="Trebuchet MS"/>
                <a:cs typeface="Trebuchet MS"/>
                <a:sym typeface="Trebuchet MS"/>
              </a:rPr>
              <a:t>Experiments : Setting</a:t>
            </a:r>
            <a:endParaRPr b="1" sz="275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t/>
            </a:r>
            <a:endParaRPr b="1" sz="25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6" name="Google Shape;196;p32"/>
          <p:cNvSpPr txBox="1"/>
          <p:nvPr/>
        </p:nvSpPr>
        <p:spPr>
          <a:xfrm>
            <a:off x="414550" y="1017725"/>
            <a:ext cx="7222500" cy="4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Implementation Details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lang="k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assignment is determined by Permutation Invariant Training (PIT): matching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lang="k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Final objective: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lang="k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λ = 0.01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lang="k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No CTC loss is used, since Whisper was not trained with CTC.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97" name="Google Shape;19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0325" y="3685325"/>
            <a:ext cx="1681675" cy="46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8229" y="2742804"/>
            <a:ext cx="3246075" cy="65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5500" y="2686800"/>
            <a:ext cx="2514600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2"/>
          <p:cNvSpPr/>
          <p:nvPr/>
        </p:nvSpPr>
        <p:spPr>
          <a:xfrm>
            <a:off x="4470150" y="2948025"/>
            <a:ext cx="228600" cy="18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ko">
                <a:latin typeface="Trebuchet MS"/>
                <a:ea typeface="Trebuchet MS"/>
                <a:cs typeface="Trebuchet MS"/>
                <a:sym typeface="Trebuchet MS"/>
              </a:rPr>
              <a:t>Ablation Study </a:t>
            </a:r>
            <a:endParaRPr/>
          </a:p>
        </p:txBody>
      </p:sp>
      <p:sp>
        <p:nvSpPr>
          <p:cNvPr id="206" name="Google Shape;206;p33"/>
          <p:cNvSpPr txBox="1"/>
          <p:nvPr>
            <p:ph idx="1" type="body"/>
          </p:nvPr>
        </p:nvSpPr>
        <p:spPr>
          <a:xfrm>
            <a:off x="413550" y="12201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Ablation:</a:t>
            </a:r>
            <a:endParaRPr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Tested prompt lengths {0, 2, 4, 8, 16}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Best performance achieved at </a:t>
            </a:r>
            <a:r>
              <a:rPr b="1"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soft prompt length = 4</a:t>
            </a:r>
            <a: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Too long → harder optimization (frozen model → longer sequences hurt)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07" name="Google Shape;20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725" y="2812225"/>
            <a:ext cx="7944400" cy="211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4"/>
          <p:cNvSpPr txBox="1"/>
          <p:nvPr>
            <p:ph type="title"/>
          </p:nvPr>
        </p:nvSpPr>
        <p:spPr>
          <a:xfrm>
            <a:off x="311700" y="222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13" name="Google Shape;21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650" y="0"/>
            <a:ext cx="85206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4"/>
          <p:cNvSpPr/>
          <p:nvPr/>
        </p:nvSpPr>
        <p:spPr>
          <a:xfrm>
            <a:off x="514925" y="4458825"/>
            <a:ext cx="7638900" cy="288600"/>
          </a:xfrm>
          <a:prstGeom prst="frame">
            <a:avLst>
              <a:gd fmla="val 12500" name="adj1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4"/>
          <p:cNvSpPr/>
          <p:nvPr/>
        </p:nvSpPr>
        <p:spPr>
          <a:xfrm>
            <a:off x="8153825" y="3321500"/>
            <a:ext cx="441300" cy="1273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875" y="115775"/>
            <a:ext cx="7775250" cy="502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5"/>
          <p:cNvSpPr/>
          <p:nvPr/>
        </p:nvSpPr>
        <p:spPr>
          <a:xfrm>
            <a:off x="752550" y="4662525"/>
            <a:ext cx="7638900" cy="288600"/>
          </a:xfrm>
          <a:prstGeom prst="frame">
            <a:avLst>
              <a:gd fmla="val 12500" name="adj1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7" name="Google Shape;22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25" y="1152475"/>
            <a:ext cx="8520600" cy="333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6"/>
          <p:cNvSpPr/>
          <p:nvPr/>
        </p:nvSpPr>
        <p:spPr>
          <a:xfrm>
            <a:off x="650725" y="3253600"/>
            <a:ext cx="7384200" cy="1035600"/>
          </a:xfrm>
          <a:prstGeom prst="frame">
            <a:avLst>
              <a:gd fmla="val 12500" name="adj1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ko" sz="2750">
                <a:latin typeface="Trebuchet MS"/>
                <a:ea typeface="Trebuchet MS"/>
                <a:cs typeface="Trebuchet MS"/>
                <a:sym typeface="Trebuchet MS"/>
              </a:rPr>
              <a:t>Experiments : Result</a:t>
            </a:r>
            <a:endParaRPr b="1" sz="275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t/>
            </a:r>
            <a:endParaRPr b="1" sz="25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4" name="Google Shape;234;p37"/>
          <p:cNvSpPr txBox="1"/>
          <p:nvPr/>
        </p:nvSpPr>
        <p:spPr>
          <a:xfrm>
            <a:off x="414550" y="1017725"/>
            <a:ext cx="7222500" cy="12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35" name="Google Shape;235;p37"/>
          <p:cNvSpPr txBox="1"/>
          <p:nvPr/>
        </p:nvSpPr>
        <p:spPr>
          <a:xfrm>
            <a:off x="414550" y="1198650"/>
            <a:ext cx="79584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●"/>
            </a:pPr>
            <a:r>
              <a:rPr lang="ko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Evaluated whether multilingual capability is retained after fine-tuning on English.</a:t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Tested on AishellMix (Mandarin) – </a:t>
            </a:r>
            <a:r>
              <a:rPr lang="ko" sz="2000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first use for multi-talker ASR</a:t>
            </a:r>
            <a:r>
              <a:rPr lang="ko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●"/>
            </a:pPr>
            <a:r>
              <a:rPr lang="ko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Two evaluation modes:</a:t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ko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Zero-shot: directly tested without retraining</a:t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ko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One-batch tuning: fine-tuned for one epoch on AishellMix</a:t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Medium &amp; large models show acceptable CER in zero-shot;</a:t>
            </a:r>
            <a:br>
              <a:rPr lang="ko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further improved with minimal tuning.</a:t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Confirms that Whisper’s multilingual ability is preserved</a:t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ko">
                <a:latin typeface="Trebuchet MS"/>
                <a:ea typeface="Trebuchet MS"/>
                <a:cs typeface="Trebuchet MS"/>
                <a:sym typeface="Trebuchet MS"/>
              </a:rPr>
              <a:t>Limitations</a:t>
            </a:r>
            <a:endParaRPr/>
          </a:p>
        </p:txBody>
      </p:sp>
      <p:sp>
        <p:nvSpPr>
          <p:cNvPr id="241" name="Google Shape;241;p38"/>
          <p:cNvSpPr txBox="1"/>
          <p:nvPr>
            <p:ph idx="1" type="body"/>
          </p:nvPr>
        </p:nvSpPr>
        <p:spPr>
          <a:xfrm>
            <a:off x="311700" y="14748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2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Limitations:</a:t>
            </a:r>
            <a:endParaRPr b="1" sz="2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746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ko" sz="2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Current method relies on </a:t>
            </a:r>
            <a:r>
              <a:rPr b="1" lang="ko" sz="2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PIT</a:t>
            </a:r>
            <a:r>
              <a:rPr lang="ko" sz="2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 requiring pre-defined max speaker count.</a:t>
            </a:r>
            <a:endParaRPr sz="2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ko" sz="2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Future work: explore </a:t>
            </a:r>
            <a:r>
              <a:rPr b="1" lang="ko" sz="2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SOT / HEAT</a:t>
            </a:r>
            <a:r>
              <a:rPr lang="ko" sz="2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to handle variable speakers.</a:t>
            </a:r>
            <a:endParaRPr sz="2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rebuchet MS"/>
              <a:buChar char="●"/>
            </a:pPr>
            <a:r>
              <a:rPr lang="ko" sz="2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Large target-speaker delay can reduce accuracy.</a:t>
            </a:r>
            <a:endParaRPr sz="2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ko" sz="2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Plan to enhance </a:t>
            </a:r>
            <a:r>
              <a:rPr b="1" lang="ko" sz="2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TTI</a:t>
            </a:r>
            <a:r>
              <a:rPr lang="ko" sz="2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with longer contextual awareness (beyond 3 seconds).</a:t>
            </a:r>
            <a:endParaRPr sz="2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ko">
                <a:latin typeface="Trebuchet MS"/>
                <a:ea typeface="Trebuchet MS"/>
                <a:cs typeface="Trebuchet MS"/>
                <a:sym typeface="Trebuchet MS"/>
              </a:rPr>
              <a:t>Conclusion</a:t>
            </a:r>
            <a:endParaRPr/>
          </a:p>
        </p:txBody>
      </p:sp>
      <p:sp>
        <p:nvSpPr>
          <p:cNvPr id="247" name="Google Shape;247;p39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We proposed a novel methodology that harnesses Whisper,</a:t>
            </a:r>
            <a:b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a speech foundation model, to jointly transcribe multi-talker speech</a:t>
            </a:r>
            <a:b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while highlighting the target talker’s speech,</a:t>
            </a:r>
            <a:b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without any external speaker embedding extractor.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Key components:</a:t>
            </a:r>
            <a:b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1️⃣ </a:t>
            </a:r>
            <a:r>
              <a:rPr b="1"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Frozen Whisper backbone</a:t>
            </a:r>
            <a:br>
              <a:rPr b="1"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2️⃣ </a:t>
            </a:r>
            <a:r>
              <a:rPr b="1"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Sidecar Separator</a:t>
            </a:r>
            <a: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for embedding separation</a:t>
            </a:r>
            <a:b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3️⃣ </a:t>
            </a:r>
            <a:r>
              <a:rPr b="1"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Target Talker Identifier (TTI)</a:t>
            </a:r>
            <a: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for on-the-fly target detection</a:t>
            </a:r>
            <a:b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4️⃣ </a:t>
            </a:r>
            <a:r>
              <a:rPr b="1"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Soft Prompt Tuning</a:t>
            </a:r>
            <a: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for efficient task adaptation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Extensive experiments show that our approach: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Outperforms previous methods on LibriMix and LibriSpeechMix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Achieves </a:t>
            </a:r>
            <a:r>
              <a:rPr b="1"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strong zero-shot performance</a:t>
            </a:r>
            <a:r>
              <a:rPr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on </a:t>
            </a:r>
            <a:r>
              <a:rPr b="1" lang="ko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AishellMix (Mandarin)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